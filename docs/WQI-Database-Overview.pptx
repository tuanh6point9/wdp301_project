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89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AC719-94DD-FBFD-CBDD-77475AEF27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26ABCF-8302-5BDE-3E1A-542943215E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60703-6E20-640B-5F89-ACAE93740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F180-872F-4133-B9ED-387351DACB5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3E0BF-FA85-B15C-66E5-4A0815876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3DD59-8DBB-21BB-B681-A81084C77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E998-22A2-4FB0-BA28-1E85B9BEB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170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4F259-D342-E95E-4107-0EE397319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BD240-F647-B7CE-7116-EB266FBFB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5001E-472C-5BC8-82C4-796265079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F180-872F-4133-B9ED-387351DACB5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6A8BD-3C72-9DD0-9B29-AFD2CDD49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214E7-2338-E141-ACAB-C773F97DB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E998-22A2-4FB0-BA28-1E85B9BEB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791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12CD0-202A-8AD1-A7A6-6B8FAE59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EFFDB-31A0-C2D5-6C47-E060AE049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1CDE1-64B4-CE45-507E-4020F152B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F180-872F-4133-B9ED-387351DACB5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13339-84E9-E36A-6F28-50B9F37F3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E430E-29F7-CA91-169D-5AB5244F5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E998-22A2-4FB0-BA28-1E85B9BEB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112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1A420-E804-D31E-756B-0FDB54D2C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D882C-5CE4-D509-FDF4-C47B0B704D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650948-07ED-F41B-7D3D-35F347371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696E6-FB0A-6A38-170A-E6B09B894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F180-872F-4133-B9ED-387351DACB5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F0636B-06EE-EC4A-D525-CA08ECC5F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F8625-FF92-04C7-EB66-ADB88CAD7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E998-22A2-4FB0-BA28-1E85B9BEB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81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41350-B6F2-BED1-422B-99832D68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E9E95-A824-BC4F-DF7D-1B98A20D2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CCDEA5-7511-4946-52E9-21C3BAA6A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B8AFAE-D3BC-9228-D551-19352F52F2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6F53A1-F8BE-F58B-DFB3-B9B66FC1DF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70F384-3AB7-3425-207A-80CD25AFD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F180-872F-4133-B9ED-387351DACB5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D0395C-7A53-1CD2-B5C7-A5E0C87EF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888220-CFC9-9F20-A2BF-B5082E623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E998-22A2-4FB0-BA28-1E85B9BEB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422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57DE-D4AE-723D-672D-EF2BA488B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561358-A4ED-1DD8-D511-8D35CC724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F180-872F-4133-B9ED-387351DACB5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2E1C-A916-62D0-9784-207449D6E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E4C88-48E7-A305-0A59-9910D2FFB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E998-22A2-4FB0-BA28-1E85B9BEB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800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367040-5BC0-0ED1-725C-1C2DB1860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F180-872F-4133-B9ED-387351DACB5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AC9D9C-FBD8-D312-99BB-0EBC7F30A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FFAE7-3FEA-8F00-D4EA-92BD760BB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E998-22A2-4FB0-BA28-1E85B9BEB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674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4B8E9-387E-F6C5-869C-253F68C21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D8924-36A5-A9C1-928B-439C39E0A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A18F16-95A4-E2E8-3C5D-71E1EDF01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0EDAB-2789-66C1-94B4-3F6170BD9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F180-872F-4133-B9ED-387351DACB5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72CA3-92A9-8FFE-FAD4-D8533C956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DE1337-AFEE-AD91-4208-677964910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E998-22A2-4FB0-BA28-1E85B9BEB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906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06120-8573-C4AC-13CF-6ACC12274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A7F67A-849D-37F2-01CA-4E436F29395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29B03-C351-73C0-44BD-9EC72C0F6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B0A49-6412-C9BD-E210-EAC4C54D4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F180-872F-4133-B9ED-387351DACB5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D1F72-C541-8087-9F22-5E74C2F6D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EAA90-6294-245A-B588-3601B2070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E998-22A2-4FB0-BA28-1E85B9BEB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130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AB9E9-D77A-D764-9A79-9EF50A069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79ACCD-C601-D8D1-AE2E-57BA5E101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F61F3-92DD-CD42-A7FF-DBEC2F774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F180-872F-4133-B9ED-387351DACB5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285D9-CC71-D043-4F39-D6875C23E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5E756-3264-9588-70CF-5660A18A6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E998-22A2-4FB0-BA28-1E85B9BEB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835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C9209D-4AD0-3F39-7598-D799E90A6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D8936D-EEAD-6126-60F9-0BB434BEDC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1770E-BEB1-AFE3-2A32-3262E2C83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F180-872F-4133-B9ED-387351DACB5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26A50-0740-9673-6E30-86CA7B0D1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9F2D7-0ABA-E89F-23BB-5D2CC01ED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E998-22A2-4FB0-BA28-1E85B9BEB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057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AFD76D-9F77-1FA2-B01A-A84E2C844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67261-4390-4ACB-998E-A8EA4299F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710B6-7D97-3EC1-0E4E-1AAE6F92E8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77F180-872F-4133-B9ED-387351DACB5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AD0DE-AF9A-4FEF-0A50-06E1D53649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A5EFD-B033-4614-C4EC-9601C6022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C3E998-22A2-4FB0-BA28-1E85B9BEB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653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487FAF-7D9A-9446-A832-8B8A318EC2D8}"/>
              </a:ext>
            </a:extLst>
          </p:cNvPr>
          <p:cNvSpPr txBox="1"/>
          <p:nvPr/>
        </p:nvSpPr>
        <p:spPr>
          <a:xfrm>
            <a:off x="533400" y="304800"/>
            <a:ext cx="9652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500" b="1">
                <a:solidFill>
                  <a:srgbClr val="F4F8FC"/>
                </a:solidFill>
                <a:latin typeface="Aptos" panose="020B0004020202020204" pitchFamily="34" charset="0"/>
              </a:rPr>
              <a:t>DATABASE HỆ THỐNG WQI AN KIM HẢI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56C663-0502-17E9-6DC6-B50B8C08BAB7}"/>
              </a:ext>
            </a:extLst>
          </p:cNvPr>
          <p:cNvSpPr txBox="1"/>
          <p:nvPr/>
        </p:nvSpPr>
        <p:spPr>
          <a:xfrm>
            <a:off x="546100" y="774700"/>
            <a:ext cx="9652000" cy="17697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50">
                <a:solidFill>
                  <a:srgbClr val="A6B8CD"/>
                </a:solidFill>
                <a:latin typeface="Aptos" panose="020B0004020202020204" pitchFamily="34" charset="0"/>
              </a:rPr>
              <a:t>MongoDB Atlas · 8 collections · dữ liệu lịch sử, import Excel và lịch sử tính WQI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5EB5C8-3CA5-1C9B-5336-AE57C1673E5F}"/>
              </a:ext>
            </a:extLst>
          </p:cNvPr>
          <p:cNvSpPr/>
          <p:nvPr/>
        </p:nvSpPr>
        <p:spPr>
          <a:xfrm>
            <a:off x="546100" y="1155700"/>
            <a:ext cx="1092200" cy="50800"/>
          </a:xfrm>
          <a:prstGeom prst="rect">
            <a:avLst/>
          </a:prstGeom>
          <a:solidFill>
            <a:srgbClr val="2CC9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74B786-A691-5D6C-F00F-63EA9919C55E}"/>
              </a:ext>
            </a:extLst>
          </p:cNvPr>
          <p:cNvSpPr txBox="1"/>
          <p:nvPr/>
        </p:nvSpPr>
        <p:spPr>
          <a:xfrm>
            <a:off x="546100" y="1447800"/>
            <a:ext cx="6667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 b="1">
                <a:solidFill>
                  <a:srgbClr val="2CC9D6"/>
                </a:solidFill>
                <a:latin typeface="Aptos" panose="020B0004020202020204" pitchFamily="34" charset="0"/>
              </a:rPr>
              <a:t>LUỒNG DỮ LIỆU LỊCH SỬ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868AF74-5D9F-C1F1-6FC7-97B83B36A075}"/>
              </a:ext>
            </a:extLst>
          </p:cNvPr>
          <p:cNvSpPr/>
          <p:nvPr/>
        </p:nvSpPr>
        <p:spPr>
          <a:xfrm>
            <a:off x="546100" y="1816100"/>
            <a:ext cx="1422400" cy="1333500"/>
          </a:xfrm>
          <a:prstGeom prst="roundRect">
            <a:avLst>
              <a:gd name="adj" fmla="val 12000"/>
            </a:avLst>
          </a:prstGeom>
          <a:solidFill>
            <a:srgbClr val="14263F"/>
          </a:solidFill>
          <a:ln w="15240">
            <a:solidFill>
              <a:srgbClr val="3A52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C3F995-16B4-08D5-8E17-1D9FA09FB047}"/>
              </a:ext>
            </a:extLst>
          </p:cNvPr>
          <p:cNvSpPr/>
          <p:nvPr/>
        </p:nvSpPr>
        <p:spPr>
          <a:xfrm>
            <a:off x="546100" y="1816100"/>
            <a:ext cx="1422400" cy="63500"/>
          </a:xfrm>
          <a:prstGeom prst="rect">
            <a:avLst/>
          </a:prstGeom>
          <a:solidFill>
            <a:srgbClr val="FFAD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A1E116-448C-1B5B-B935-2A65AB41AE58}"/>
              </a:ext>
            </a:extLst>
          </p:cNvPr>
          <p:cNvSpPr txBox="1"/>
          <p:nvPr/>
        </p:nvSpPr>
        <p:spPr>
          <a:xfrm>
            <a:off x="673100" y="2032000"/>
            <a:ext cx="11684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050" b="1">
                <a:solidFill>
                  <a:srgbClr val="FFAD4A"/>
                </a:solidFill>
                <a:latin typeface="Aptos" panose="020B0004020202020204" pitchFamily="34" charset="0"/>
              </a:rPr>
              <a:t>IMPORT_BATCH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E32743-6D2C-9819-08D4-6D021B747C0A}"/>
              </a:ext>
            </a:extLst>
          </p:cNvPr>
          <p:cNvSpPr txBox="1"/>
          <p:nvPr/>
        </p:nvSpPr>
        <p:spPr>
          <a:xfrm>
            <a:off x="673100" y="2413000"/>
            <a:ext cx="1168400" cy="43858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F4F8FC"/>
                </a:solidFill>
                <a:latin typeface="Aptos" panose="020B0004020202020204" pitchFamily="34" charset="0"/>
              </a:rPr>
              <a:t>Quản lý lần nhập`nHash chống trùng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F72BA4D-0B6B-1405-4C85-5B2C5A610907}"/>
              </a:ext>
            </a:extLst>
          </p:cNvPr>
          <p:cNvSpPr/>
          <p:nvPr/>
        </p:nvSpPr>
        <p:spPr>
          <a:xfrm>
            <a:off x="2298700" y="1816100"/>
            <a:ext cx="1422400" cy="1333500"/>
          </a:xfrm>
          <a:prstGeom prst="roundRect">
            <a:avLst>
              <a:gd name="adj" fmla="val 12000"/>
            </a:avLst>
          </a:prstGeom>
          <a:solidFill>
            <a:srgbClr val="14263F"/>
          </a:solidFill>
          <a:ln w="15240">
            <a:solidFill>
              <a:srgbClr val="3A52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67A835-3C78-8659-0B2B-EC5B48015B26}"/>
              </a:ext>
            </a:extLst>
          </p:cNvPr>
          <p:cNvSpPr/>
          <p:nvPr/>
        </p:nvSpPr>
        <p:spPr>
          <a:xfrm>
            <a:off x="2298700" y="1816100"/>
            <a:ext cx="1422400" cy="63500"/>
          </a:xfrm>
          <a:prstGeom prst="rect">
            <a:avLst/>
          </a:prstGeom>
          <a:solidFill>
            <a:srgbClr val="FFAD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A5D17D-23C5-032C-AA11-E2C756302258}"/>
              </a:ext>
            </a:extLst>
          </p:cNvPr>
          <p:cNvSpPr txBox="1"/>
          <p:nvPr/>
        </p:nvSpPr>
        <p:spPr>
          <a:xfrm>
            <a:off x="2425700" y="2032000"/>
            <a:ext cx="11684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050" b="1">
                <a:solidFill>
                  <a:srgbClr val="FFAD4A"/>
                </a:solidFill>
                <a:latin typeface="Aptos" panose="020B0004020202020204" pitchFamily="34" charset="0"/>
              </a:rPr>
              <a:t>IMPORTED_ROW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C7DC59-3CC2-86EE-9C4C-6E61A0105E76}"/>
              </a:ext>
            </a:extLst>
          </p:cNvPr>
          <p:cNvSpPr txBox="1"/>
          <p:nvPr/>
        </p:nvSpPr>
        <p:spPr>
          <a:xfrm>
            <a:off x="2425700" y="2413000"/>
            <a:ext cx="11684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F4F8FC"/>
                </a:solidFill>
                <a:latin typeface="Aptos" panose="020B0004020202020204" pitchFamily="34" charset="0"/>
              </a:rPr>
              <a:t>Giữ dòng dữ liệu gốc`nGhi nhận lỗi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25F23C4-DB85-4B95-65D2-B81A26AE1EC2}"/>
              </a:ext>
            </a:extLst>
          </p:cNvPr>
          <p:cNvSpPr/>
          <p:nvPr/>
        </p:nvSpPr>
        <p:spPr>
          <a:xfrm>
            <a:off x="4051300" y="1816100"/>
            <a:ext cx="1422400" cy="1333500"/>
          </a:xfrm>
          <a:prstGeom prst="roundRect">
            <a:avLst>
              <a:gd name="adj" fmla="val 12000"/>
            </a:avLst>
          </a:prstGeom>
          <a:solidFill>
            <a:srgbClr val="14263F"/>
          </a:solidFill>
          <a:ln w="15240">
            <a:solidFill>
              <a:srgbClr val="3A52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5E066B-A9D7-7A02-6F30-F011556FA988}"/>
              </a:ext>
            </a:extLst>
          </p:cNvPr>
          <p:cNvSpPr/>
          <p:nvPr/>
        </p:nvSpPr>
        <p:spPr>
          <a:xfrm>
            <a:off x="4051300" y="1816100"/>
            <a:ext cx="1422400" cy="63500"/>
          </a:xfrm>
          <a:prstGeom prst="rect">
            <a:avLst/>
          </a:prstGeom>
          <a:solidFill>
            <a:srgbClr val="2CC9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5126E9-7D17-95F7-B7B3-3E38AAE01540}"/>
              </a:ext>
            </a:extLst>
          </p:cNvPr>
          <p:cNvSpPr txBox="1"/>
          <p:nvPr/>
        </p:nvSpPr>
        <p:spPr>
          <a:xfrm>
            <a:off x="4178300" y="2032000"/>
            <a:ext cx="11684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050" b="1">
                <a:solidFill>
                  <a:srgbClr val="2CC9D6"/>
                </a:solidFill>
                <a:latin typeface="Aptos" panose="020B0004020202020204" pitchFamily="34" charset="0"/>
              </a:rPr>
              <a:t>WATER_RECORD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73BF35-ED26-58FC-2E16-48148DE80BFB}"/>
              </a:ext>
            </a:extLst>
          </p:cNvPr>
          <p:cNvSpPr txBox="1"/>
          <p:nvPr/>
        </p:nvSpPr>
        <p:spPr>
          <a:xfrm>
            <a:off x="4178300" y="2413000"/>
            <a:ext cx="11684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F4F8FC"/>
                </a:solidFill>
                <a:latin typeface="Aptos" panose="020B0004020202020204" pitchFamily="34" charset="0"/>
              </a:rPr>
              <a:t>Dữ liệu chuẩn hóa`nĐã kiểm định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E6D85E3-4B65-A5D2-AC4F-B8F0AC315D8A}"/>
              </a:ext>
            </a:extLst>
          </p:cNvPr>
          <p:cNvSpPr/>
          <p:nvPr/>
        </p:nvSpPr>
        <p:spPr>
          <a:xfrm>
            <a:off x="5803900" y="1816100"/>
            <a:ext cx="1422400" cy="1333500"/>
          </a:xfrm>
          <a:prstGeom prst="roundRect">
            <a:avLst>
              <a:gd name="adj" fmla="val 12000"/>
            </a:avLst>
          </a:prstGeom>
          <a:solidFill>
            <a:srgbClr val="14263F"/>
          </a:solidFill>
          <a:ln w="15240">
            <a:solidFill>
              <a:srgbClr val="3A52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29C2F5-9D5C-0A81-151B-124D46EFDEAF}"/>
              </a:ext>
            </a:extLst>
          </p:cNvPr>
          <p:cNvSpPr/>
          <p:nvPr/>
        </p:nvSpPr>
        <p:spPr>
          <a:xfrm>
            <a:off x="5803900" y="1816100"/>
            <a:ext cx="1422400" cy="63500"/>
          </a:xfrm>
          <a:prstGeom prst="rect">
            <a:avLst/>
          </a:prstGeom>
          <a:solidFill>
            <a:srgbClr val="4DD09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4D99A1-9D69-14A0-EA9D-0469F8FA4167}"/>
              </a:ext>
            </a:extLst>
          </p:cNvPr>
          <p:cNvSpPr txBox="1"/>
          <p:nvPr/>
        </p:nvSpPr>
        <p:spPr>
          <a:xfrm>
            <a:off x="5930900" y="2032000"/>
            <a:ext cx="11684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050" b="1">
                <a:solidFill>
                  <a:srgbClr val="4DD09E"/>
                </a:solidFill>
                <a:latin typeface="Aptos" panose="020B0004020202020204" pitchFamily="34" charset="0"/>
              </a:rPr>
              <a:t>STATION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B2A9D1-CFC7-A9C6-01E9-67BE037472F9}"/>
              </a:ext>
            </a:extLst>
          </p:cNvPr>
          <p:cNvSpPr txBox="1"/>
          <p:nvPr/>
        </p:nvSpPr>
        <p:spPr>
          <a:xfrm>
            <a:off x="5930900" y="2413000"/>
            <a:ext cx="11684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950">
                <a:solidFill>
                  <a:srgbClr val="F4F8FC"/>
                </a:solidFill>
                <a:latin typeface="Aptos" panose="020B0004020202020204" pitchFamily="34" charset="0"/>
              </a:rPr>
              <a:t>Điểm quan trắc`nTọa độ bản đồ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16A17F-457B-100E-24BD-0406D72A1BDD}"/>
              </a:ext>
            </a:extLst>
          </p:cNvPr>
          <p:cNvSpPr txBox="1"/>
          <p:nvPr/>
        </p:nvSpPr>
        <p:spPr>
          <a:xfrm>
            <a:off x="1993900" y="2247900"/>
            <a:ext cx="2794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2100" b="1">
                <a:solidFill>
                  <a:srgbClr val="A6B8CD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1F4D4B-5050-B4C7-058E-68573AB7B045}"/>
              </a:ext>
            </a:extLst>
          </p:cNvPr>
          <p:cNvSpPr txBox="1"/>
          <p:nvPr/>
        </p:nvSpPr>
        <p:spPr>
          <a:xfrm>
            <a:off x="3746500" y="2247900"/>
            <a:ext cx="2794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2100" b="1">
                <a:solidFill>
                  <a:srgbClr val="A6B8CD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498449-2ACB-BB96-EACC-2A96ABF8C0BD}"/>
              </a:ext>
            </a:extLst>
          </p:cNvPr>
          <p:cNvSpPr txBox="1"/>
          <p:nvPr/>
        </p:nvSpPr>
        <p:spPr>
          <a:xfrm>
            <a:off x="5499100" y="2247900"/>
            <a:ext cx="2794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2100" b="1">
                <a:solidFill>
                  <a:srgbClr val="A6B8CD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197592-C5EF-B72C-19F1-FA9CED2D9DEC}"/>
              </a:ext>
            </a:extLst>
          </p:cNvPr>
          <p:cNvSpPr txBox="1"/>
          <p:nvPr/>
        </p:nvSpPr>
        <p:spPr>
          <a:xfrm>
            <a:off x="546100" y="3302000"/>
            <a:ext cx="66802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1050">
                <a:solidFill>
                  <a:srgbClr val="A6B8CD"/>
                </a:solidFill>
                <a:latin typeface="Aptos" panose="020B0004020202020204" pitchFamily="34" charset="0"/>
              </a:rPr>
              <a:t>Excel → kiểm tra cấu trúc → lưu dữ liệu nguồn → chuẩn hóa → bản đồ / bảng / biểu đồ / báo cáo</a:t>
            </a:r>
            <a:endParaRPr lang="en-US" sz="1050">
              <a:solidFill>
                <a:srgbClr val="A6B8CD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03D90E-1E21-CBD0-47F5-62722C3E7F4D}"/>
              </a:ext>
            </a:extLst>
          </p:cNvPr>
          <p:cNvSpPr txBox="1"/>
          <p:nvPr/>
        </p:nvSpPr>
        <p:spPr>
          <a:xfrm>
            <a:off x="546100" y="3848100"/>
            <a:ext cx="6667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 b="1">
                <a:solidFill>
                  <a:srgbClr val="A989FF"/>
                </a:solidFill>
                <a:latin typeface="Aptos" panose="020B0004020202020204" pitchFamily="34" charset="0"/>
              </a:rPr>
              <a:t>NHÓM COLLECTION HỖ TRỢ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FE2003B-8D93-9D04-69EA-45AB09E540DB}"/>
              </a:ext>
            </a:extLst>
          </p:cNvPr>
          <p:cNvSpPr/>
          <p:nvPr/>
        </p:nvSpPr>
        <p:spPr>
          <a:xfrm>
            <a:off x="546100" y="4216400"/>
            <a:ext cx="1422400" cy="1320800"/>
          </a:xfrm>
          <a:prstGeom prst="roundRect">
            <a:avLst>
              <a:gd name="adj" fmla="val 12000"/>
            </a:avLst>
          </a:prstGeom>
          <a:solidFill>
            <a:srgbClr val="19304C"/>
          </a:solidFill>
          <a:ln w="15240">
            <a:solidFill>
              <a:srgbClr val="3A52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E48944-F686-5C1D-3839-417C9B5D75FB}"/>
              </a:ext>
            </a:extLst>
          </p:cNvPr>
          <p:cNvSpPr txBox="1"/>
          <p:nvPr/>
        </p:nvSpPr>
        <p:spPr>
          <a:xfrm>
            <a:off x="660400" y="4368800"/>
            <a:ext cx="11938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50" b="1">
                <a:solidFill>
                  <a:srgbClr val="A989FF"/>
                </a:solidFill>
                <a:latin typeface="Aptos" panose="020B0004020202020204" pitchFamily="34" charset="0"/>
              </a:rPr>
              <a:t>Truy cập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4FBA49-E4B5-C85A-296A-EA25A6B6706A}"/>
              </a:ext>
            </a:extLst>
          </p:cNvPr>
          <p:cNvSpPr txBox="1"/>
          <p:nvPr/>
        </p:nvSpPr>
        <p:spPr>
          <a:xfrm>
            <a:off x="660400" y="4635500"/>
            <a:ext cx="1193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F4F8FC"/>
                </a:solidFill>
                <a:latin typeface="Aptos" panose="020B0004020202020204" pitchFamily="34" charset="0"/>
              </a:rPr>
              <a:t>USER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1F7298-7347-D66C-B2F0-0331FA9EB9AB}"/>
              </a:ext>
            </a:extLst>
          </p:cNvPr>
          <p:cNvSpPr txBox="1"/>
          <p:nvPr/>
        </p:nvSpPr>
        <p:spPr>
          <a:xfrm>
            <a:off x="660400" y="4953000"/>
            <a:ext cx="11938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6B8CD"/>
                </a:solidFill>
                <a:latin typeface="Aptos" panose="020B0004020202020204" pitchFamily="34" charset="0"/>
              </a:rPr>
              <a:t>Tài khoản dùng chung`nrole: user | admin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1174AFE-260C-CBE5-11FE-754725CBD8B4}"/>
              </a:ext>
            </a:extLst>
          </p:cNvPr>
          <p:cNvSpPr/>
          <p:nvPr/>
        </p:nvSpPr>
        <p:spPr>
          <a:xfrm>
            <a:off x="2298700" y="4216400"/>
            <a:ext cx="1422400" cy="1320800"/>
          </a:xfrm>
          <a:prstGeom prst="roundRect">
            <a:avLst>
              <a:gd name="adj" fmla="val 12000"/>
            </a:avLst>
          </a:prstGeom>
          <a:solidFill>
            <a:srgbClr val="19304C"/>
          </a:solidFill>
          <a:ln w="15240">
            <a:solidFill>
              <a:srgbClr val="3A52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3385C3-0D94-0024-06C2-1145AEA4522A}"/>
              </a:ext>
            </a:extLst>
          </p:cNvPr>
          <p:cNvSpPr txBox="1"/>
          <p:nvPr/>
        </p:nvSpPr>
        <p:spPr>
          <a:xfrm>
            <a:off x="2413000" y="4368800"/>
            <a:ext cx="11938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50" b="1">
                <a:solidFill>
                  <a:srgbClr val="A989FF"/>
                </a:solidFill>
                <a:latin typeface="Aptos" panose="020B0004020202020204" pitchFamily="34" charset="0"/>
              </a:rPr>
              <a:t>Bảo mật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11338A-40E3-0389-DAE7-BC5620337919}"/>
              </a:ext>
            </a:extLst>
          </p:cNvPr>
          <p:cNvSpPr txBox="1"/>
          <p:nvPr/>
        </p:nvSpPr>
        <p:spPr>
          <a:xfrm>
            <a:off x="2413000" y="4635500"/>
            <a:ext cx="1193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F4F8FC"/>
                </a:solidFill>
                <a:latin typeface="Aptos" panose="020B0004020202020204" pitchFamily="34" charset="0"/>
              </a:rPr>
              <a:t>SESSION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2D7ADE-557D-1417-05A5-D87D72D5D2A3}"/>
              </a:ext>
            </a:extLst>
          </p:cNvPr>
          <p:cNvSpPr txBox="1"/>
          <p:nvPr/>
        </p:nvSpPr>
        <p:spPr>
          <a:xfrm>
            <a:off x="2413000" y="4953000"/>
            <a:ext cx="11938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6B8CD"/>
                </a:solidFill>
                <a:latin typeface="Aptos" panose="020B0004020202020204" pitchFamily="34" charset="0"/>
              </a:rPr>
              <a:t>Phiên đăng nhập`nTự động hết hạn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BB4DC80-AAF1-094B-E5EB-F54463E5D613}"/>
              </a:ext>
            </a:extLst>
          </p:cNvPr>
          <p:cNvSpPr/>
          <p:nvPr/>
        </p:nvSpPr>
        <p:spPr>
          <a:xfrm>
            <a:off x="4051300" y="4216400"/>
            <a:ext cx="1422400" cy="1320800"/>
          </a:xfrm>
          <a:prstGeom prst="roundRect">
            <a:avLst>
              <a:gd name="adj" fmla="val 12000"/>
            </a:avLst>
          </a:prstGeom>
          <a:solidFill>
            <a:srgbClr val="19304C"/>
          </a:solidFill>
          <a:ln w="15240">
            <a:solidFill>
              <a:srgbClr val="3A52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700B20-D68D-4957-A5C4-B94493A635CA}"/>
              </a:ext>
            </a:extLst>
          </p:cNvPr>
          <p:cNvSpPr txBox="1"/>
          <p:nvPr/>
        </p:nvSpPr>
        <p:spPr>
          <a:xfrm>
            <a:off x="4165600" y="4368800"/>
            <a:ext cx="11938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50" b="1">
                <a:solidFill>
                  <a:srgbClr val="4DD09E"/>
                </a:solidFill>
                <a:latin typeface="Aptos" panose="020B0004020202020204" pitchFamily="34" charset="0"/>
              </a:rPr>
              <a:t>FR-07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D84D72-2B57-431B-88D3-300056D88671}"/>
              </a:ext>
            </a:extLst>
          </p:cNvPr>
          <p:cNvSpPr txBox="1"/>
          <p:nvPr/>
        </p:nvSpPr>
        <p:spPr>
          <a:xfrm>
            <a:off x="4165600" y="4635500"/>
            <a:ext cx="1193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F4F8FC"/>
                </a:solidFill>
                <a:latin typeface="Aptos" panose="020B0004020202020204" pitchFamily="34" charset="0"/>
              </a:rPr>
              <a:t>PREDICTION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9F31CF-DD0C-B5BC-7CAE-1969A3F7738C}"/>
              </a:ext>
            </a:extLst>
          </p:cNvPr>
          <p:cNvSpPr txBox="1"/>
          <p:nvPr/>
        </p:nvSpPr>
        <p:spPr>
          <a:xfrm>
            <a:off x="4165600" y="4953000"/>
            <a:ext cx="11938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6B8CD"/>
                </a:solidFill>
                <a:latin typeface="Aptos" panose="020B0004020202020204" pitchFamily="34" charset="0"/>
              </a:rPr>
              <a:t>Lịch sử tính WQI`nKết quả theo user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0BDEA50-2BD4-9B23-D147-EFDA7D328133}"/>
              </a:ext>
            </a:extLst>
          </p:cNvPr>
          <p:cNvSpPr/>
          <p:nvPr/>
        </p:nvSpPr>
        <p:spPr>
          <a:xfrm>
            <a:off x="5803900" y="4216400"/>
            <a:ext cx="1422400" cy="1320800"/>
          </a:xfrm>
          <a:prstGeom prst="roundRect">
            <a:avLst>
              <a:gd name="adj" fmla="val 12000"/>
            </a:avLst>
          </a:prstGeom>
          <a:solidFill>
            <a:srgbClr val="19304C"/>
          </a:solidFill>
          <a:ln w="15240">
            <a:solidFill>
              <a:srgbClr val="3A52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C3B7EB4-98DE-C152-4CCF-853A1E0AA03C}"/>
              </a:ext>
            </a:extLst>
          </p:cNvPr>
          <p:cNvSpPr txBox="1"/>
          <p:nvPr/>
        </p:nvSpPr>
        <p:spPr>
          <a:xfrm>
            <a:off x="5918200" y="4368800"/>
            <a:ext cx="11938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50" b="1">
                <a:solidFill>
                  <a:srgbClr val="4DD09E"/>
                </a:solidFill>
                <a:latin typeface="Aptos" panose="020B0004020202020204" pitchFamily="34" charset="0"/>
              </a:rPr>
              <a:t>AI contract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1D88F01-7F6C-9BD3-8A82-41BE21DAE8E8}"/>
              </a:ext>
            </a:extLst>
          </p:cNvPr>
          <p:cNvSpPr txBox="1"/>
          <p:nvPr/>
        </p:nvSpPr>
        <p:spPr>
          <a:xfrm>
            <a:off x="5918200" y="4635500"/>
            <a:ext cx="1193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F4F8FC"/>
                </a:solidFill>
                <a:latin typeface="Aptos" panose="020B0004020202020204" pitchFamily="34" charset="0"/>
              </a:rPr>
              <a:t>AI_INPUT_SCHEMA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A77A92-8764-BB78-AC09-BBE3B0429113}"/>
              </a:ext>
            </a:extLst>
          </p:cNvPr>
          <p:cNvSpPr txBox="1"/>
          <p:nvPr/>
        </p:nvSpPr>
        <p:spPr>
          <a:xfrm>
            <a:off x="5918200" y="4953000"/>
            <a:ext cx="11938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vi-VN" sz="900">
                <a:solidFill>
                  <a:srgbClr val="A6B8CD"/>
                </a:solidFill>
                <a:latin typeface="Aptos" panose="020B0004020202020204" pitchFamily="34" charset="0"/>
              </a:rPr>
              <a:t>6 biến, đơn vị, thứ tự`nPhiên bản tiền xử lý</a:t>
            </a:r>
            <a:endParaRPr lang="en-US" sz="900">
              <a:solidFill>
                <a:srgbClr val="A6B8CD"/>
              </a:solidFill>
              <a:latin typeface="Aptos" panose="020B0004020202020204" pitchFamily="34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84D5AA9-2F71-A64F-3F95-0B559B82FF84}"/>
              </a:ext>
            </a:extLst>
          </p:cNvPr>
          <p:cNvSpPr/>
          <p:nvPr/>
        </p:nvSpPr>
        <p:spPr>
          <a:xfrm>
            <a:off x="7645400" y="1435100"/>
            <a:ext cx="4013200" cy="4102100"/>
          </a:xfrm>
          <a:prstGeom prst="roundRect">
            <a:avLst>
              <a:gd name="adj" fmla="val 12000"/>
            </a:avLst>
          </a:prstGeom>
          <a:solidFill>
            <a:srgbClr val="14263F"/>
          </a:solidFill>
          <a:ln w="15240">
            <a:solidFill>
              <a:srgbClr val="3A52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81958F-FEDD-78B0-B9F8-86005988A546}"/>
              </a:ext>
            </a:extLst>
          </p:cNvPr>
          <p:cNvSpPr txBox="1"/>
          <p:nvPr/>
        </p:nvSpPr>
        <p:spPr>
          <a:xfrm>
            <a:off x="7924800" y="1701800"/>
            <a:ext cx="34544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 b="1">
                <a:solidFill>
                  <a:srgbClr val="F4F8FC"/>
                </a:solidFill>
                <a:latin typeface="Aptos" panose="020B0004020202020204" pitchFamily="34" charset="0"/>
              </a:rPr>
              <a:t>QUAN HỆ &amp; NGUYÊN TẮC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EE11385-9B6E-32D7-9735-947575CBB0A9}"/>
              </a:ext>
            </a:extLst>
          </p:cNvPr>
          <p:cNvSpPr/>
          <p:nvPr/>
        </p:nvSpPr>
        <p:spPr>
          <a:xfrm>
            <a:off x="7924800" y="2235200"/>
            <a:ext cx="368300" cy="368300"/>
          </a:xfrm>
          <a:prstGeom prst="ellipse">
            <a:avLst/>
          </a:prstGeom>
          <a:solidFill>
            <a:srgbClr val="A989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5E87E2-FEC9-C464-D49B-F761BC057B9B}"/>
              </a:ext>
            </a:extLst>
          </p:cNvPr>
          <p:cNvSpPr txBox="1"/>
          <p:nvPr/>
        </p:nvSpPr>
        <p:spPr>
          <a:xfrm>
            <a:off x="7924800" y="2324100"/>
            <a:ext cx="3683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50" b="1">
                <a:solidFill>
                  <a:srgbClr val="0B182D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F04C90-1086-2C1C-9A3A-9C0E9E27E19F}"/>
              </a:ext>
            </a:extLst>
          </p:cNvPr>
          <p:cNvSpPr txBox="1"/>
          <p:nvPr/>
        </p:nvSpPr>
        <p:spPr>
          <a:xfrm>
            <a:off x="8458200" y="2222500"/>
            <a:ext cx="28575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50" b="1">
                <a:solidFill>
                  <a:srgbClr val="F4F8FC"/>
                </a:solidFill>
                <a:latin typeface="Aptos" panose="020B0004020202020204" pitchFamily="34" charset="0"/>
              </a:rPr>
              <a:t>Admin nằm trong USER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D33CDA-21D5-3861-6368-0C3969F4826B}"/>
              </a:ext>
            </a:extLst>
          </p:cNvPr>
          <p:cNvSpPr txBox="1"/>
          <p:nvPr/>
        </p:nvSpPr>
        <p:spPr>
          <a:xfrm>
            <a:off x="8458200" y="2489200"/>
            <a:ext cx="28575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20">
                <a:solidFill>
                  <a:srgbClr val="A6B8CD"/>
                </a:solidFill>
                <a:latin typeface="Aptos" panose="020B0004020202020204" pitchFamily="34" charset="0"/>
              </a:rPr>
              <a:t>Không tạo bảng admin riêng; phân quyền bằng role.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56830B6-5E4D-07BA-2DA7-F6CFFB53B8CF}"/>
              </a:ext>
            </a:extLst>
          </p:cNvPr>
          <p:cNvSpPr/>
          <p:nvPr/>
        </p:nvSpPr>
        <p:spPr>
          <a:xfrm>
            <a:off x="7924800" y="3009900"/>
            <a:ext cx="368300" cy="368300"/>
          </a:xfrm>
          <a:prstGeom prst="ellipse">
            <a:avLst/>
          </a:prstGeom>
          <a:solidFill>
            <a:srgbClr val="4DD09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22B9E13-48CF-E00B-2C98-9753606C67E9}"/>
              </a:ext>
            </a:extLst>
          </p:cNvPr>
          <p:cNvSpPr txBox="1"/>
          <p:nvPr/>
        </p:nvSpPr>
        <p:spPr>
          <a:xfrm>
            <a:off x="7924800" y="3098800"/>
            <a:ext cx="3683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50" b="1">
                <a:solidFill>
                  <a:srgbClr val="0B182D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442470A-D21C-8188-CE16-14B807854689}"/>
              </a:ext>
            </a:extLst>
          </p:cNvPr>
          <p:cNvSpPr txBox="1"/>
          <p:nvPr/>
        </p:nvSpPr>
        <p:spPr>
          <a:xfrm>
            <a:off x="8458200" y="2997200"/>
            <a:ext cx="28575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1050" b="1">
                <a:solidFill>
                  <a:srgbClr val="F4F8FC"/>
                </a:solidFill>
                <a:latin typeface="Aptos" panose="020B0004020202020204" pitchFamily="34" charset="0"/>
              </a:rPr>
              <a:t>Trạm 1 — N bản ghi</a:t>
            </a:r>
            <a:endParaRPr lang="en-US" sz="1050" b="1">
              <a:solidFill>
                <a:srgbClr val="F4F8FC"/>
              </a:solidFill>
              <a:latin typeface="Aptos" panose="020B00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E552FF-46B2-17EF-16E6-8AD243729869}"/>
              </a:ext>
            </a:extLst>
          </p:cNvPr>
          <p:cNvSpPr txBox="1"/>
          <p:nvPr/>
        </p:nvSpPr>
        <p:spPr>
          <a:xfrm>
            <a:off x="8458200" y="3263900"/>
            <a:ext cx="28575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20">
                <a:solidFill>
                  <a:srgbClr val="A6B8CD"/>
                </a:solidFill>
                <a:latin typeface="Aptos" panose="020B0004020202020204" pitchFamily="34" charset="0"/>
              </a:rPr>
              <a:t>Mỗi WATER_RECORD thuộc đúng một STATION.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ACFBCCB-55B9-13AB-B884-734D3D952386}"/>
              </a:ext>
            </a:extLst>
          </p:cNvPr>
          <p:cNvSpPr/>
          <p:nvPr/>
        </p:nvSpPr>
        <p:spPr>
          <a:xfrm>
            <a:off x="7924800" y="3784600"/>
            <a:ext cx="368300" cy="368300"/>
          </a:xfrm>
          <a:prstGeom prst="ellipse">
            <a:avLst/>
          </a:prstGeom>
          <a:solidFill>
            <a:srgbClr val="FFAD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0C2CE4-8C7A-C716-DF21-D3C39EE981EA}"/>
              </a:ext>
            </a:extLst>
          </p:cNvPr>
          <p:cNvSpPr txBox="1"/>
          <p:nvPr/>
        </p:nvSpPr>
        <p:spPr>
          <a:xfrm>
            <a:off x="7924800" y="3873500"/>
            <a:ext cx="3683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50" b="1">
                <a:solidFill>
                  <a:srgbClr val="0B182D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254E3D9-BAEA-4C14-BF7B-17B9EE3D292E}"/>
              </a:ext>
            </a:extLst>
          </p:cNvPr>
          <p:cNvSpPr txBox="1"/>
          <p:nvPr/>
        </p:nvSpPr>
        <p:spPr>
          <a:xfrm>
            <a:off x="8458200" y="3771900"/>
            <a:ext cx="28575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50" b="1">
                <a:solidFill>
                  <a:srgbClr val="F4F8FC"/>
                </a:solidFill>
                <a:latin typeface="Aptos" panose="020B0004020202020204" pitchFamily="34" charset="0"/>
              </a:rPr>
              <a:t>Truy vết Excel đầy đủ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47E2B77-B675-BDE0-0538-9E520987065D}"/>
              </a:ext>
            </a:extLst>
          </p:cNvPr>
          <p:cNvSpPr txBox="1"/>
          <p:nvPr/>
        </p:nvSpPr>
        <p:spPr>
          <a:xfrm>
            <a:off x="8458200" y="4038600"/>
            <a:ext cx="28575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20">
                <a:solidFill>
                  <a:srgbClr val="A6B8CD"/>
                </a:solidFill>
                <a:latin typeface="Aptos" panose="020B0004020202020204" pitchFamily="34" charset="0"/>
              </a:rPr>
              <a:t>Một dòng nguồn chuẩn hóa thành tối đa một bản ghi.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584C286-0B59-844A-DEB7-4F9868692FB8}"/>
              </a:ext>
            </a:extLst>
          </p:cNvPr>
          <p:cNvSpPr/>
          <p:nvPr/>
        </p:nvSpPr>
        <p:spPr>
          <a:xfrm>
            <a:off x="7924800" y="4559300"/>
            <a:ext cx="368300" cy="368300"/>
          </a:xfrm>
          <a:prstGeom prst="ellipse">
            <a:avLst/>
          </a:prstGeom>
          <a:solidFill>
            <a:srgbClr val="2CC9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40819C1-8CD8-4ABD-3A53-3A2EF1DB1600}"/>
              </a:ext>
            </a:extLst>
          </p:cNvPr>
          <p:cNvSpPr txBox="1"/>
          <p:nvPr/>
        </p:nvSpPr>
        <p:spPr>
          <a:xfrm>
            <a:off x="7924800" y="4648200"/>
            <a:ext cx="368300" cy="13080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50" b="1">
                <a:solidFill>
                  <a:srgbClr val="0B182D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72B6EA4-F684-7AAD-62D7-7731B302634B}"/>
              </a:ext>
            </a:extLst>
          </p:cNvPr>
          <p:cNvSpPr txBox="1"/>
          <p:nvPr/>
        </p:nvSpPr>
        <p:spPr>
          <a:xfrm>
            <a:off x="8458200" y="4546600"/>
            <a:ext cx="28575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50" b="1">
                <a:solidFill>
                  <a:srgbClr val="F4F8FC"/>
                </a:solidFill>
                <a:latin typeface="Aptos" panose="020B0004020202020204" pitchFamily="34" charset="0"/>
              </a:rPr>
              <a:t>An toàn dữ liệu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D434C5F-9B2B-68D2-24AB-056008717330}"/>
              </a:ext>
            </a:extLst>
          </p:cNvPr>
          <p:cNvSpPr txBox="1"/>
          <p:nvPr/>
        </p:nvSpPr>
        <p:spPr>
          <a:xfrm>
            <a:off x="8458200" y="4813300"/>
            <a:ext cx="28575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20">
                <a:solidFill>
                  <a:srgbClr val="A6B8CD"/>
                </a:solidFill>
                <a:latin typeface="Aptos" panose="020B0004020202020204" pitchFamily="34" charset="0"/>
              </a:rPr>
              <a:t>Unique index, kiểm định và version chống ghi đè.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FFDCB24-31BF-651B-1352-612F278002E1}"/>
              </a:ext>
            </a:extLst>
          </p:cNvPr>
          <p:cNvSpPr/>
          <p:nvPr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rgbClr val="0812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DBA4C47-4295-E4EB-659E-15E4FBD6535A}"/>
              </a:ext>
            </a:extLst>
          </p:cNvPr>
          <p:cNvSpPr txBox="1"/>
          <p:nvPr/>
        </p:nvSpPr>
        <p:spPr>
          <a:xfrm>
            <a:off x="546100" y="6362700"/>
            <a:ext cx="7366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2CC9D6"/>
                </a:solidFill>
                <a:latin typeface="Aptos" panose="020B0004020202020204" pitchFamily="34" charset="0"/>
              </a:rPr>
              <a:t>Kết quả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75F1C89-5DFD-9057-DA84-332E4EB05816}"/>
              </a:ext>
            </a:extLst>
          </p:cNvPr>
          <p:cNvSpPr txBox="1"/>
          <p:nvPr/>
        </p:nvSpPr>
        <p:spPr>
          <a:xfrm>
            <a:off x="1409700" y="6350000"/>
            <a:ext cx="96139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50">
                <a:solidFill>
                  <a:srgbClr val="F4F8FC"/>
                </a:solidFill>
                <a:latin typeface="Aptos" panose="020B0004020202020204" pitchFamily="34" charset="0"/>
              </a:rPr>
              <a:t>Một nguồn dữ liệu thống nhất cho Web, Mobile và AI Service — triển khai online trên MongoDB Atlas.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5EA687D-3707-816B-25DF-E346930AB320}"/>
              </a:ext>
            </a:extLst>
          </p:cNvPr>
          <p:cNvSpPr txBox="1"/>
          <p:nvPr/>
        </p:nvSpPr>
        <p:spPr>
          <a:xfrm>
            <a:off x="11150600" y="6337300"/>
            <a:ext cx="4953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4DD09E"/>
                </a:solidFill>
                <a:latin typeface="Aptos" panose="020B0004020202020204" pitchFamily="34" charset="0"/>
              </a:rPr>
              <a:t>WQI</a:t>
            </a:r>
          </a:p>
        </p:txBody>
      </p:sp>
    </p:spTree>
    <p:extLst>
      <p:ext uri="{BB962C8B-B14F-4D97-AF65-F5344CB8AC3E}">
        <p14:creationId xmlns:p14="http://schemas.microsoft.com/office/powerpoint/2010/main" val="2097429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</Words>
  <Application>Microsoft Office PowerPoint</Application>
  <PresentationFormat>Custom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quan vuong</dc:creator>
  <cp:lastModifiedBy>quan vuong</cp:lastModifiedBy>
  <cp:revision>1</cp:revision>
  <dcterms:created xsi:type="dcterms:W3CDTF">2026-09-29T01:24:55Z</dcterms:created>
  <dcterms:modified xsi:type="dcterms:W3CDTF">2026-09-29T01:24:55Z</dcterms:modified>
</cp:coreProperties>
</file>